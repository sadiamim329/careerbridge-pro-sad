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Inter Heav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1" y="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xBDSUvKwLkwzGewA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50000">
              <a:srgbClr val="082D2F">
                <a:alpha val="100000"/>
              </a:srgbClr>
            </a:gs>
            <a:gs pos="100000">
              <a:srgbClr val="28949C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1348756" y="2426287"/>
            <a:ext cx="2711833" cy="197291"/>
            <a:chOff x="0" y="0"/>
            <a:chExt cx="952142" cy="692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0388194" y="1971777"/>
            <a:ext cx="2711833" cy="197291"/>
            <a:chOff x="0" y="0"/>
            <a:chExt cx="952142" cy="692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48305" y="7673612"/>
            <a:ext cx="2669433" cy="194207"/>
            <a:chOff x="0" y="0"/>
            <a:chExt cx="952142" cy="69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93848" y="8121016"/>
            <a:ext cx="2669433" cy="194207"/>
            <a:chOff x="0" y="0"/>
            <a:chExt cx="952142" cy="692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52142" cy="69270"/>
            </a:xfrm>
            <a:custGeom>
              <a:avLst/>
              <a:gdLst/>
              <a:ahLst/>
              <a:cxnLst/>
              <a:rect l="l" t="t" r="r" b="b"/>
              <a:pathLst>
                <a:path w="952142" h="69270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7712" y="3168295"/>
            <a:ext cx="16127451" cy="4248142"/>
            <a:chOff x="0" y="0"/>
            <a:chExt cx="21503268" cy="566419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200025"/>
              <a:ext cx="21503268" cy="1276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642"/>
                </a:lnSpc>
                <a:spcBef>
                  <a:spcPct val="0"/>
                </a:spcBef>
              </a:pPr>
              <a:r>
                <a:rPr lang="en-US" sz="7298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CareerBridge Pro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89549" y="1630109"/>
              <a:ext cx="15724171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Smart Career Learning &amp; Placement System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105" y="3281246"/>
              <a:ext cx="20335058" cy="23829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Feedback, SWOT &amp;</a:t>
              </a:r>
            </a:p>
            <a:p>
              <a:pPr algn="ctr">
                <a:lnSpc>
                  <a:spcPts val="7279"/>
                </a:lnSpc>
              </a:pPr>
              <a:r>
                <a:rPr lang="en-US" sz="51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Final Features List,STRATEGY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754066" y="8744585"/>
            <a:ext cx="4351958" cy="1228396"/>
            <a:chOff x="0" y="0"/>
            <a:chExt cx="5802610" cy="1637861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66675"/>
              <a:ext cx="3385939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Group No : 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487" y="886233"/>
              <a:ext cx="5750123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Team Name: Bridgify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25" y="8141930"/>
            <a:ext cx="18277775" cy="2145070"/>
            <a:chOff x="0" y="0"/>
            <a:chExt cx="4813900" cy="564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3900" cy="564957"/>
            </a:xfrm>
            <a:custGeom>
              <a:avLst/>
              <a:gdLst/>
              <a:ahLst/>
              <a:cxnLst/>
              <a:rect l="l" t="t" r="r" b="b"/>
              <a:pathLst>
                <a:path w="4813900" h="564957">
                  <a:moveTo>
                    <a:pt x="0" y="0"/>
                  </a:moveTo>
                  <a:lnTo>
                    <a:pt x="4813900" y="0"/>
                  </a:lnTo>
                  <a:lnTo>
                    <a:pt x="4813900" y="564957"/>
                  </a:lnTo>
                  <a:lnTo>
                    <a:pt x="0" y="564957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3900" cy="622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76412"/>
            <a:ext cx="1638300" cy="740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511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370757"/>
            <a:ext cx="12130857" cy="426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 user needs, problems, and expectations in career planning, learning, and job searching.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>
              <a:lnSpc>
                <a:spcPts val="4759"/>
              </a:lnSpc>
            </a:pPr>
            <a:r>
              <a:rPr lang="en-US" sz="4800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S0LUTION</a:t>
            </a:r>
          </a:p>
          <a:p>
            <a:pPr algn="l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CareerBridge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 integrates learning, skill analysis, and job matching into one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15516" y="1028700"/>
            <a:ext cx="7037887" cy="3645167"/>
          </a:xfrm>
          <a:custGeom>
            <a:avLst/>
            <a:gdLst/>
            <a:ahLst/>
            <a:cxnLst/>
            <a:rect l="l" t="t" r="r" b="b"/>
            <a:pathLst>
              <a:path w="7037887" h="3645167">
                <a:moveTo>
                  <a:pt x="0" y="0"/>
                </a:moveTo>
                <a:lnTo>
                  <a:pt x="7037887" y="0"/>
                </a:lnTo>
                <a:lnTo>
                  <a:pt x="7037887" y="3645167"/>
                </a:lnTo>
                <a:lnTo>
                  <a:pt x="0" y="3645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37" t="-2905" r="-32517" b="-7055"/>
            </a:stretch>
          </a:blipFill>
          <a:ln w="9525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115516" y="5745546"/>
            <a:ext cx="7037887" cy="3512754"/>
          </a:xfrm>
          <a:custGeom>
            <a:avLst/>
            <a:gdLst/>
            <a:ahLst/>
            <a:cxnLst/>
            <a:rect l="l" t="t" r="r" b="b"/>
            <a:pathLst>
              <a:path w="7037887" h="3512754">
                <a:moveTo>
                  <a:pt x="0" y="0"/>
                </a:moveTo>
                <a:lnTo>
                  <a:pt x="7037887" y="0"/>
                </a:lnTo>
                <a:lnTo>
                  <a:pt x="7037887" y="3512754"/>
                </a:lnTo>
                <a:lnTo>
                  <a:pt x="0" y="3512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2" r="-17839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028700" y="5745546"/>
            <a:ext cx="7191398" cy="3512754"/>
          </a:xfrm>
          <a:custGeom>
            <a:avLst/>
            <a:gdLst/>
            <a:ahLst/>
            <a:cxnLst/>
            <a:rect l="l" t="t" r="r" b="b"/>
            <a:pathLst>
              <a:path w="7191398" h="3512754">
                <a:moveTo>
                  <a:pt x="0" y="0"/>
                </a:moveTo>
                <a:lnTo>
                  <a:pt x="7191398" y="0"/>
                </a:lnTo>
                <a:lnTo>
                  <a:pt x="7191398" y="3512754"/>
                </a:lnTo>
                <a:lnTo>
                  <a:pt x="0" y="3512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4276" b="-7051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33A578E-3A28-4D24-9166-96F0033FC9CD}"/>
              </a:ext>
            </a:extLst>
          </p:cNvPr>
          <p:cNvSpPr txBox="1"/>
          <p:nvPr/>
        </p:nvSpPr>
        <p:spPr>
          <a:xfrm>
            <a:off x="1028700" y="1896516"/>
            <a:ext cx="71913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respondents are students, with a smaller portion being job seekers and employed individuals.</a:t>
            </a:r>
          </a:p>
          <a:p>
            <a:endParaRPr lang="en-US" sz="2400" dirty="0"/>
          </a:p>
          <a:p>
            <a:r>
              <a:rPr lang="en-US" sz="2400" dirty="0"/>
              <a:t>Users come from diverse academic backgrounds, with a majority from technical and business-related fields.</a:t>
            </a:r>
          </a:p>
          <a:p>
            <a:endParaRPr lang="en-US" sz="2400" dirty="0"/>
          </a:p>
          <a:p>
            <a:r>
              <a:rPr lang="en-US" sz="2400" dirty="0"/>
              <a:t>Many users are not fully satisfied with their current career direction and feel uncertain about their future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04991" y="1028700"/>
            <a:ext cx="6954309" cy="3580494"/>
          </a:xfrm>
          <a:custGeom>
            <a:avLst/>
            <a:gdLst/>
            <a:ahLst/>
            <a:cxnLst/>
            <a:rect l="l" t="t" r="r" b="b"/>
            <a:pathLst>
              <a:path w="6954309" h="3580494">
                <a:moveTo>
                  <a:pt x="0" y="0"/>
                </a:moveTo>
                <a:lnTo>
                  <a:pt x="6954309" y="0"/>
                </a:lnTo>
                <a:lnTo>
                  <a:pt x="6954309" y="3580494"/>
                </a:lnTo>
                <a:lnTo>
                  <a:pt x="0" y="3580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99" r="-7264" b="-15315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28700" y="1028700"/>
            <a:ext cx="6954309" cy="3580494"/>
          </a:xfrm>
          <a:custGeom>
            <a:avLst/>
            <a:gdLst/>
            <a:ahLst/>
            <a:cxnLst/>
            <a:rect l="l" t="t" r="r" b="b"/>
            <a:pathLst>
              <a:path w="6954309" h="3580494">
                <a:moveTo>
                  <a:pt x="0" y="0"/>
                </a:moveTo>
                <a:lnTo>
                  <a:pt x="6954309" y="0"/>
                </a:lnTo>
                <a:lnTo>
                  <a:pt x="6954309" y="3580494"/>
                </a:lnTo>
                <a:lnTo>
                  <a:pt x="0" y="3580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2" r="-6265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28700" y="5883040"/>
            <a:ext cx="6954309" cy="3375260"/>
          </a:xfrm>
          <a:custGeom>
            <a:avLst/>
            <a:gdLst/>
            <a:ahLst/>
            <a:cxnLst/>
            <a:rect l="l" t="t" r="r" b="b"/>
            <a:pathLst>
              <a:path w="6954309" h="3375260">
                <a:moveTo>
                  <a:pt x="0" y="0"/>
                </a:moveTo>
                <a:lnTo>
                  <a:pt x="6954309" y="0"/>
                </a:lnTo>
                <a:lnTo>
                  <a:pt x="6954309" y="3375260"/>
                </a:lnTo>
                <a:lnTo>
                  <a:pt x="0" y="337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04" t="-1344" r="-14264" b="-60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0304991" y="5883040"/>
            <a:ext cx="6954309" cy="3375260"/>
          </a:xfrm>
          <a:custGeom>
            <a:avLst/>
            <a:gdLst/>
            <a:ahLst/>
            <a:cxnLst/>
            <a:rect l="l" t="t" r="r" b="b"/>
            <a:pathLst>
              <a:path w="6954309" h="3375260">
                <a:moveTo>
                  <a:pt x="0" y="0"/>
                </a:moveTo>
                <a:lnTo>
                  <a:pt x="6954309" y="0"/>
                </a:lnTo>
                <a:lnTo>
                  <a:pt x="6954309" y="3375260"/>
                </a:lnTo>
                <a:lnTo>
                  <a:pt x="0" y="3375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" r="-2304" b="-10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56735C4-8FF3-418E-9C09-E7ECD1D4A378}"/>
              </a:ext>
            </a:extLst>
          </p:cNvPr>
          <p:cNvSpPr txBox="1"/>
          <p:nvPr/>
        </p:nvSpPr>
        <p:spPr>
          <a:xfrm>
            <a:off x="1028700" y="4914900"/>
            <a:ext cx="6954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Many users face difficulties in career planning due to lack of clear direction.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3A83A2-EA36-4A99-99DA-6E15E45853E4}"/>
              </a:ext>
            </a:extLst>
          </p:cNvPr>
          <p:cNvSpPr txBox="1"/>
          <p:nvPr/>
        </p:nvSpPr>
        <p:spPr>
          <a:xfrm>
            <a:off x="10304991" y="4914900"/>
            <a:ext cx="6954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Common challenges include lack of guidance, skill gaps, and limited opportunities.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A8427-3FA7-43B9-A5DF-458B252DB98B}"/>
              </a:ext>
            </a:extLst>
          </p:cNvPr>
          <p:cNvSpPr txBox="1"/>
          <p:nvPr/>
        </p:nvSpPr>
        <p:spPr>
          <a:xfrm>
            <a:off x="914400" y="9300085"/>
            <a:ext cx="69543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Most users prefer flexible learning methods such as online courses and video-based learning.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BAEAC-2EDB-4E28-AAC6-10A836876F4A}"/>
              </a:ext>
            </a:extLst>
          </p:cNvPr>
          <p:cNvSpPr txBox="1"/>
          <p:nvPr/>
        </p:nvSpPr>
        <p:spPr>
          <a:xfrm>
            <a:off x="10195453" y="9300085"/>
            <a:ext cx="7063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significant number of users have experience using existing career or learning platforms.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7702134" cy="3440001"/>
          </a:xfrm>
          <a:custGeom>
            <a:avLst/>
            <a:gdLst/>
            <a:ahLst/>
            <a:cxnLst/>
            <a:rect l="l" t="t" r="r" b="b"/>
            <a:pathLst>
              <a:path w="7702134" h="3440001">
                <a:moveTo>
                  <a:pt x="0" y="0"/>
                </a:moveTo>
                <a:lnTo>
                  <a:pt x="7702134" y="0"/>
                </a:lnTo>
                <a:lnTo>
                  <a:pt x="7702134" y="3440001"/>
                </a:lnTo>
                <a:lnTo>
                  <a:pt x="0" y="344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21" b="-3221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052937" y="1028700"/>
            <a:ext cx="7206363" cy="3440001"/>
          </a:xfrm>
          <a:custGeom>
            <a:avLst/>
            <a:gdLst/>
            <a:ahLst/>
            <a:cxnLst/>
            <a:rect l="l" t="t" r="r" b="b"/>
            <a:pathLst>
              <a:path w="7206363" h="3440001">
                <a:moveTo>
                  <a:pt x="0" y="0"/>
                </a:moveTo>
                <a:lnTo>
                  <a:pt x="7206363" y="0"/>
                </a:lnTo>
                <a:lnTo>
                  <a:pt x="7206363" y="3440001"/>
                </a:lnTo>
                <a:lnTo>
                  <a:pt x="0" y="3440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91" t="-2363" r="-139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28700" y="5923711"/>
            <a:ext cx="7702134" cy="3334589"/>
          </a:xfrm>
          <a:custGeom>
            <a:avLst/>
            <a:gdLst/>
            <a:ahLst/>
            <a:cxnLst/>
            <a:rect l="l" t="t" r="r" b="b"/>
            <a:pathLst>
              <a:path w="7702134" h="3334589">
                <a:moveTo>
                  <a:pt x="0" y="0"/>
                </a:moveTo>
                <a:lnTo>
                  <a:pt x="7702134" y="0"/>
                </a:lnTo>
                <a:lnTo>
                  <a:pt x="7702134" y="3334589"/>
                </a:lnTo>
                <a:lnTo>
                  <a:pt x="0" y="3334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94" b="-921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9758791" y="5923711"/>
            <a:ext cx="7500509" cy="3334589"/>
          </a:xfrm>
          <a:custGeom>
            <a:avLst/>
            <a:gdLst/>
            <a:ahLst/>
            <a:cxnLst/>
            <a:rect l="l" t="t" r="r" b="b"/>
            <a:pathLst>
              <a:path w="7500509" h="3334589">
                <a:moveTo>
                  <a:pt x="0" y="0"/>
                </a:moveTo>
                <a:lnTo>
                  <a:pt x="7500509" y="0"/>
                </a:lnTo>
                <a:lnTo>
                  <a:pt x="7500509" y="3334589"/>
                </a:lnTo>
                <a:lnTo>
                  <a:pt x="0" y="3334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51" r="-2151" b="-11535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45785F6-49C2-47D3-8E1B-1F0688F03AAF}"/>
              </a:ext>
            </a:extLst>
          </p:cNvPr>
          <p:cNvSpPr txBox="1"/>
          <p:nvPr/>
        </p:nvSpPr>
        <p:spPr>
          <a:xfrm>
            <a:off x="1028700" y="4838700"/>
            <a:ext cx="7581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significant number of users have experience using existing career or learning platforms.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9CB6C-D1B2-4843-8887-EBA2F200EC5B}"/>
              </a:ext>
            </a:extLst>
          </p:cNvPr>
          <p:cNvSpPr txBox="1"/>
          <p:nvPr/>
        </p:nvSpPr>
        <p:spPr>
          <a:xfrm>
            <a:off x="10227118" y="4776787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Most users express a strong need for mentorship and expert guidance.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3E1713-AFCD-4AD6-AE3B-B98B5FC03969}"/>
              </a:ext>
            </a:extLst>
          </p:cNvPr>
          <p:cNvSpPr txBox="1"/>
          <p:nvPr/>
        </p:nvSpPr>
        <p:spPr>
          <a:xfrm>
            <a:off x="1028700" y="9435370"/>
            <a:ext cx="7900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Users are highly interested in practicing through mock interview features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E9734-16DF-4603-9D92-A8DBFBB3BEA4}"/>
              </a:ext>
            </a:extLst>
          </p:cNvPr>
          <p:cNvSpPr txBox="1"/>
          <p:nvPr/>
        </p:nvSpPr>
        <p:spPr>
          <a:xfrm>
            <a:off x="9758791" y="9435370"/>
            <a:ext cx="7206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Many users prefer group study systems for collaborative learning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876904"/>
            <a:ext cx="8115300" cy="3381396"/>
          </a:xfrm>
          <a:custGeom>
            <a:avLst/>
            <a:gdLst/>
            <a:ahLst/>
            <a:cxnLst/>
            <a:rect l="l" t="t" r="r" b="b"/>
            <a:pathLst>
              <a:path w="8115300" h="3381396">
                <a:moveTo>
                  <a:pt x="0" y="0"/>
                </a:moveTo>
                <a:lnTo>
                  <a:pt x="8115300" y="0"/>
                </a:lnTo>
                <a:lnTo>
                  <a:pt x="8115300" y="3381396"/>
                </a:lnTo>
                <a:lnTo>
                  <a:pt x="0" y="3381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2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0169085" y="1028700"/>
            <a:ext cx="7090215" cy="3116307"/>
          </a:xfrm>
          <a:custGeom>
            <a:avLst/>
            <a:gdLst/>
            <a:ahLst/>
            <a:cxnLst/>
            <a:rect l="l" t="t" r="r" b="b"/>
            <a:pathLst>
              <a:path w="7090215" h="3116307">
                <a:moveTo>
                  <a:pt x="0" y="0"/>
                </a:moveTo>
                <a:lnTo>
                  <a:pt x="7090215" y="0"/>
                </a:lnTo>
                <a:lnTo>
                  <a:pt x="7090215" y="3116307"/>
                </a:lnTo>
                <a:lnTo>
                  <a:pt x="0" y="31163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28" r="-2228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169085" y="5876904"/>
            <a:ext cx="7090215" cy="3381396"/>
          </a:xfrm>
          <a:custGeom>
            <a:avLst/>
            <a:gdLst/>
            <a:ahLst/>
            <a:cxnLst/>
            <a:rect l="l" t="t" r="r" b="b"/>
            <a:pathLst>
              <a:path w="7090215" h="3381396">
                <a:moveTo>
                  <a:pt x="0" y="0"/>
                </a:moveTo>
                <a:lnTo>
                  <a:pt x="7090215" y="0"/>
                </a:lnTo>
                <a:lnTo>
                  <a:pt x="7090215" y="3381396"/>
                </a:lnTo>
                <a:lnTo>
                  <a:pt x="0" y="3381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7" r="-157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8365296-9893-4482-B1F8-1C196A65C358}"/>
              </a:ext>
            </a:extLst>
          </p:cNvPr>
          <p:cNvSpPr txBox="1"/>
          <p:nvPr/>
        </p:nvSpPr>
        <p:spPr>
          <a:xfrm>
            <a:off x="1028700" y="1866900"/>
            <a:ext cx="8115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Personalized course recommendations are considered very useful by most users.</a:t>
            </a:r>
          </a:p>
          <a:p>
            <a:endParaRPr lang="en-US" sz="2400" dirty="0"/>
          </a:p>
          <a:p>
            <a:r>
              <a:rPr lang="en-US" sz="2400" dirty="0"/>
              <a:t>Notifications and reward systems are seen as motivating factors by users.</a:t>
            </a:r>
          </a:p>
          <a:p>
            <a:endParaRPr lang="en-US" sz="2400" dirty="0"/>
          </a:p>
          <a:p>
            <a:r>
              <a:rPr lang="en-US" sz="2400" dirty="0"/>
              <a:t>Users need proper support and resources for effective job preparation.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14647" y="1028700"/>
            <a:ext cx="7344653" cy="3090373"/>
          </a:xfrm>
          <a:custGeom>
            <a:avLst/>
            <a:gdLst/>
            <a:ahLst/>
            <a:cxnLst/>
            <a:rect l="l" t="t" r="r" b="b"/>
            <a:pathLst>
              <a:path w="7344653" h="3090373">
                <a:moveTo>
                  <a:pt x="0" y="0"/>
                </a:moveTo>
                <a:lnTo>
                  <a:pt x="7344653" y="0"/>
                </a:lnTo>
                <a:lnTo>
                  <a:pt x="7344653" y="3090373"/>
                </a:lnTo>
                <a:lnTo>
                  <a:pt x="0" y="3090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9914647" y="6109399"/>
            <a:ext cx="7344653" cy="3148901"/>
          </a:xfrm>
          <a:custGeom>
            <a:avLst/>
            <a:gdLst/>
            <a:ahLst/>
            <a:cxnLst/>
            <a:rect l="l" t="t" r="r" b="b"/>
            <a:pathLst>
              <a:path w="7344653" h="3148901">
                <a:moveTo>
                  <a:pt x="0" y="0"/>
                </a:moveTo>
                <a:lnTo>
                  <a:pt x="7344653" y="0"/>
                </a:lnTo>
                <a:lnTo>
                  <a:pt x="7344653" y="3148901"/>
                </a:lnTo>
                <a:lnTo>
                  <a:pt x="0" y="3148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35" b="-5151"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28700" y="6109399"/>
            <a:ext cx="7483752" cy="3148901"/>
          </a:xfrm>
          <a:custGeom>
            <a:avLst/>
            <a:gdLst/>
            <a:ahLst/>
            <a:cxnLst/>
            <a:rect l="l" t="t" r="r" b="b"/>
            <a:pathLst>
              <a:path w="7483752" h="3148901">
                <a:moveTo>
                  <a:pt x="0" y="0"/>
                </a:moveTo>
                <a:lnTo>
                  <a:pt x="7483752" y="0"/>
                </a:lnTo>
                <a:lnTo>
                  <a:pt x="7483752" y="3148901"/>
                </a:lnTo>
                <a:lnTo>
                  <a:pt x="0" y="3148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gradFill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 FeedBack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3CB61FA-C9B5-48E8-B381-145F9A22AC00}"/>
              </a:ext>
            </a:extLst>
          </p:cNvPr>
          <p:cNvSpPr txBox="1"/>
          <p:nvPr/>
        </p:nvSpPr>
        <p:spPr>
          <a:xfrm>
            <a:off x="1000125" y="2371871"/>
            <a:ext cx="74837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Users expect a simple, clean, and user-friendly platform interface.</a:t>
            </a:r>
          </a:p>
          <a:p>
            <a:endParaRPr lang="en-US" sz="2400" dirty="0"/>
          </a:p>
          <a:p>
            <a:r>
              <a:rPr lang="en-US" sz="2400" dirty="0"/>
              <a:t>Most users are willing to use this system in the future.</a:t>
            </a:r>
          </a:p>
          <a:p>
            <a:endParaRPr lang="en-US" sz="2400" dirty="0"/>
          </a:p>
          <a:p>
            <a:r>
              <a:rPr lang="en-US" sz="2400" dirty="0"/>
              <a:t>Users provide valuable feedback and suggestions for improving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34344"/>
            <a:ext cx="4719936" cy="1041240"/>
            <a:chOff x="0" y="0"/>
            <a:chExt cx="6293249" cy="138832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293249" cy="1388320"/>
              <a:chOff x="0" y="0"/>
              <a:chExt cx="1243111" cy="27423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243111" cy="274236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236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236"/>
                    </a:lnTo>
                    <a:lnTo>
                      <a:pt x="0" y="27423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1243111" cy="3313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460324" y="354469"/>
              <a:ext cx="4903246" cy="622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40"/>
                </a:lnSpc>
              </a:pPr>
              <a:r>
                <a:rPr lang="en-US" sz="2814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Smart Profile System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687774"/>
            <a:ext cx="4719936" cy="1043804"/>
            <a:chOff x="0" y="0"/>
            <a:chExt cx="6293249" cy="139173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08199" y="355933"/>
              <a:ext cx="487799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AI Skill Gap Analyzer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9868" y="5541203"/>
            <a:ext cx="4719936" cy="1043804"/>
            <a:chOff x="0" y="0"/>
            <a:chExt cx="6293249" cy="1391739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08199" y="406052"/>
              <a:ext cx="487799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Career Path Planner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9868" y="7394633"/>
            <a:ext cx="4719936" cy="1043804"/>
            <a:chOff x="0" y="0"/>
            <a:chExt cx="6293249" cy="1391739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08199" y="355933"/>
              <a:ext cx="487799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Online Quiz System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60040" y="1831780"/>
            <a:ext cx="4719936" cy="1043804"/>
            <a:chOff x="0" y="0"/>
            <a:chExt cx="6293249" cy="1391739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45408" y="432192"/>
              <a:ext cx="5402432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Job Matching System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60040" y="3687774"/>
            <a:ext cx="4719936" cy="1043804"/>
            <a:chOff x="0" y="0"/>
            <a:chExt cx="6293249" cy="1391739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01103" y="327521"/>
              <a:ext cx="487799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Application System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955145" y="7361046"/>
            <a:ext cx="4719936" cy="1043804"/>
            <a:chOff x="0" y="0"/>
            <a:chExt cx="6293249" cy="1391739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80876" y="388780"/>
              <a:ext cx="506214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Performance Tracking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60040" y="5541203"/>
            <a:ext cx="4719936" cy="1043804"/>
            <a:chOff x="0" y="0"/>
            <a:chExt cx="6293249" cy="1391739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6293249" cy="1391739"/>
              <a:chOff x="0" y="0"/>
              <a:chExt cx="1243111" cy="27491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243111" cy="274911"/>
              </a:xfrm>
              <a:custGeom>
                <a:avLst/>
                <a:gdLst/>
                <a:ahLst/>
                <a:cxnLst/>
                <a:rect l="l" t="t" r="r" b="b"/>
                <a:pathLst>
                  <a:path w="1243111" h="274911">
                    <a:moveTo>
                      <a:pt x="0" y="0"/>
                    </a:moveTo>
                    <a:lnTo>
                      <a:pt x="1243111" y="0"/>
                    </a:lnTo>
                    <a:lnTo>
                      <a:pt x="1243111" y="274911"/>
                    </a:lnTo>
                    <a:lnTo>
                      <a:pt x="0" y="27491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57150"/>
                <a:ext cx="1243111" cy="3320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01103" y="355933"/>
              <a:ext cx="3534172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Employer Panel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516466" y="7361046"/>
            <a:ext cx="4742835" cy="1453064"/>
            <a:chOff x="0" y="-25712"/>
            <a:chExt cx="1249142" cy="332061"/>
          </a:xfrm>
        </p:grpSpPr>
        <p:sp>
          <p:nvSpPr>
            <p:cNvPr id="43" name="Freeform 43"/>
            <p:cNvSpPr/>
            <p:nvPr/>
          </p:nvSpPr>
          <p:spPr>
            <a:xfrm>
              <a:off x="0" y="-8069"/>
              <a:ext cx="1226491" cy="288123"/>
            </a:xfrm>
            <a:custGeom>
              <a:avLst/>
              <a:gdLst/>
              <a:ahLst/>
              <a:cxnLst/>
              <a:rect l="l" t="t" r="r" b="b"/>
              <a:pathLst>
                <a:path w="1243111" h="274911">
                  <a:moveTo>
                    <a:pt x="0" y="0"/>
                  </a:moveTo>
                  <a:lnTo>
                    <a:pt x="1243111" y="0"/>
                  </a:lnTo>
                  <a:lnTo>
                    <a:pt x="1243111" y="274911"/>
                  </a:lnTo>
                  <a:lnTo>
                    <a:pt x="0" y="274911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1" y="-25712"/>
              <a:ext cx="1243111" cy="33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>
                <a:solidFill>
                  <a:srgbClr val="00B0F0"/>
                </a:solidFill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539364" y="1831780"/>
            <a:ext cx="4719936" cy="1043804"/>
            <a:chOff x="0" y="0"/>
            <a:chExt cx="1243111" cy="27491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43111" cy="274911"/>
            </a:xfrm>
            <a:custGeom>
              <a:avLst/>
              <a:gdLst/>
              <a:ahLst/>
              <a:cxnLst/>
              <a:rect l="l" t="t" r="r" b="b"/>
              <a:pathLst>
                <a:path w="1243111" h="274911">
                  <a:moveTo>
                    <a:pt x="0" y="0"/>
                  </a:moveTo>
                  <a:lnTo>
                    <a:pt x="1243111" y="0"/>
                  </a:lnTo>
                  <a:lnTo>
                    <a:pt x="1243111" y="274911"/>
                  </a:lnTo>
                  <a:lnTo>
                    <a:pt x="0" y="274911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1243111" cy="33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539364" y="3687774"/>
            <a:ext cx="4719936" cy="1043804"/>
            <a:chOff x="0" y="0"/>
            <a:chExt cx="1243111" cy="27491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43111" cy="274911"/>
            </a:xfrm>
            <a:custGeom>
              <a:avLst/>
              <a:gdLst/>
              <a:ahLst/>
              <a:cxnLst/>
              <a:rect l="l" t="t" r="r" b="b"/>
              <a:pathLst>
                <a:path w="1243111" h="274911">
                  <a:moveTo>
                    <a:pt x="0" y="0"/>
                  </a:moveTo>
                  <a:lnTo>
                    <a:pt x="1243111" y="0"/>
                  </a:lnTo>
                  <a:lnTo>
                    <a:pt x="1243111" y="274911"/>
                  </a:lnTo>
                  <a:lnTo>
                    <a:pt x="0" y="274911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1243111" cy="33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539364" y="5541203"/>
            <a:ext cx="4719936" cy="1043804"/>
            <a:chOff x="0" y="0"/>
            <a:chExt cx="1243111" cy="27491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43111" cy="274911"/>
            </a:xfrm>
            <a:custGeom>
              <a:avLst/>
              <a:gdLst/>
              <a:ahLst/>
              <a:cxnLst/>
              <a:rect l="l" t="t" r="r" b="b"/>
              <a:pathLst>
                <a:path w="1243111" h="274911">
                  <a:moveTo>
                    <a:pt x="0" y="0"/>
                  </a:moveTo>
                  <a:lnTo>
                    <a:pt x="1243111" y="0"/>
                  </a:lnTo>
                  <a:lnTo>
                    <a:pt x="1243111" y="274911"/>
                  </a:lnTo>
                  <a:lnTo>
                    <a:pt x="0" y="274911"/>
                  </a:ln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1243111" cy="33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8700" y="316384"/>
            <a:ext cx="4780449" cy="712316"/>
            <a:chOff x="0" y="0"/>
            <a:chExt cx="6373932" cy="949755"/>
          </a:xfrm>
        </p:grpSpPr>
        <p:grpSp>
          <p:nvGrpSpPr>
            <p:cNvPr id="55" name="Group 55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Features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2805343" y="7642283"/>
            <a:ext cx="264482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Mock Interview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05343" y="2092019"/>
            <a:ext cx="353496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Study Group System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832727" y="3940436"/>
            <a:ext cx="434057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Course Recommendation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825434" y="5798378"/>
            <a:ext cx="410200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Notifications &amp; Rewards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10287000"/>
            <a:chOff x="0" y="0"/>
            <a:chExt cx="27093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3"/>
            </a:xfrm>
            <a:custGeom>
              <a:avLst/>
              <a:gdLst/>
              <a:ahLst/>
              <a:cxnLst/>
              <a:rect l="l" t="t" r="r" b="b"/>
              <a:pathLst>
                <a:path w="270933" h="27093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65CED1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8820" y="1514805"/>
            <a:ext cx="14947215" cy="4458584"/>
            <a:chOff x="0" y="0"/>
            <a:chExt cx="19929620" cy="594477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570352" cy="2731657"/>
              <a:chOff x="0" y="0"/>
              <a:chExt cx="1647698" cy="52527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647698" cy="525272"/>
              </a:xfrm>
              <a:custGeom>
                <a:avLst/>
                <a:gdLst/>
                <a:ahLst/>
                <a:cxnLst/>
                <a:rect l="l" t="t" r="r" b="b"/>
                <a:pathLst>
                  <a:path w="1647698" h="525272">
                    <a:moveTo>
                      <a:pt x="1647698" y="26498"/>
                    </a:moveTo>
                    <a:lnTo>
                      <a:pt x="1647698" y="498774"/>
                    </a:lnTo>
                    <a:cubicBezTo>
                      <a:pt x="1647698" y="505802"/>
                      <a:pt x="1644906" y="512542"/>
                      <a:pt x="1639937" y="517511"/>
                    </a:cubicBezTo>
                    <a:cubicBezTo>
                      <a:pt x="1634968" y="522480"/>
                      <a:pt x="1628228" y="525272"/>
                      <a:pt x="1621200" y="525272"/>
                    </a:cubicBezTo>
                    <a:lnTo>
                      <a:pt x="26498" y="525272"/>
                    </a:lnTo>
                    <a:cubicBezTo>
                      <a:pt x="19470" y="525272"/>
                      <a:pt x="12730" y="522480"/>
                      <a:pt x="7761" y="517511"/>
                    </a:cubicBezTo>
                    <a:cubicBezTo>
                      <a:pt x="2792" y="512542"/>
                      <a:pt x="0" y="505802"/>
                      <a:pt x="0" y="498774"/>
                    </a:cubicBezTo>
                    <a:lnTo>
                      <a:pt x="0" y="26498"/>
                    </a:lnTo>
                    <a:cubicBezTo>
                      <a:pt x="0" y="19470"/>
                      <a:pt x="2792" y="12730"/>
                      <a:pt x="7761" y="7761"/>
                    </a:cubicBezTo>
                    <a:cubicBezTo>
                      <a:pt x="12730" y="2792"/>
                      <a:pt x="19470" y="0"/>
                      <a:pt x="26498" y="0"/>
                    </a:cubicBezTo>
                    <a:lnTo>
                      <a:pt x="1621200" y="0"/>
                    </a:lnTo>
                    <a:cubicBezTo>
                      <a:pt x="1628228" y="0"/>
                      <a:pt x="1634968" y="2792"/>
                      <a:pt x="1639937" y="7761"/>
                    </a:cubicBezTo>
                    <a:cubicBezTo>
                      <a:pt x="1644906" y="12730"/>
                      <a:pt x="1647698" y="19470"/>
                      <a:pt x="1647698" y="26498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1647698" cy="582422"/>
              </a:xfrm>
              <a:prstGeom prst="rect">
                <a:avLst/>
              </a:prstGeom>
            </p:spPr>
            <p:txBody>
              <a:bodyPr lIns="52196" tIns="52196" rIns="52196" bIns="52196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38484" y="1056476"/>
              <a:ext cx="8049099" cy="1452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5620" lvl="1" indent="-227810" algn="l">
                <a:lnSpc>
                  <a:spcPts val="2954"/>
                </a:lnSpc>
                <a:buFont typeface="Arial"/>
                <a:buChar char="•"/>
              </a:pPr>
              <a:r>
                <a:rPr lang="en-US" sz="211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All-in-one system (Learning + Skill + Job)</a:t>
              </a:r>
            </a:p>
            <a:p>
              <a:pPr marL="455620" lvl="1" indent="-227810" algn="l">
                <a:lnSpc>
                  <a:spcPts val="2954"/>
                </a:lnSpc>
                <a:buFont typeface="Arial"/>
                <a:buChar char="•"/>
              </a:pPr>
              <a:r>
                <a:rPr lang="en-US" sz="211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Skill gap &amp; job match feature (unique)</a:t>
              </a:r>
            </a:p>
            <a:p>
              <a:pPr marL="455620" lvl="1" indent="-227810" algn="l">
                <a:lnSpc>
                  <a:spcPts val="2954"/>
                </a:lnSpc>
                <a:buFont typeface="Arial"/>
                <a:buChar char="•"/>
              </a:pPr>
              <a:r>
                <a:rPr lang="en-US" sz="211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Personalized career guidance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946" y="185678"/>
              <a:ext cx="4134459" cy="870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79"/>
                </a:lnSpc>
              </a:pPr>
              <a:r>
                <a:rPr lang="en-US" sz="3913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Strengths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0" y="3139072"/>
              <a:ext cx="8134049" cy="2805706"/>
              <a:chOff x="0" y="0"/>
              <a:chExt cx="1677431" cy="57870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677431" cy="578708"/>
              </a:xfrm>
              <a:custGeom>
                <a:avLst/>
                <a:gdLst/>
                <a:ahLst/>
                <a:cxnLst/>
                <a:rect l="l" t="t" r="r" b="b"/>
                <a:pathLst>
                  <a:path w="1677431" h="578708">
                    <a:moveTo>
                      <a:pt x="1677431" y="27919"/>
                    </a:moveTo>
                    <a:lnTo>
                      <a:pt x="1677431" y="550788"/>
                    </a:lnTo>
                    <a:cubicBezTo>
                      <a:pt x="1677431" y="558193"/>
                      <a:pt x="1674489" y="565294"/>
                      <a:pt x="1669254" y="570530"/>
                    </a:cubicBezTo>
                    <a:cubicBezTo>
                      <a:pt x="1664018" y="575766"/>
                      <a:pt x="1656916" y="578708"/>
                      <a:pt x="1649512" y="578708"/>
                    </a:cubicBezTo>
                    <a:lnTo>
                      <a:pt x="27919" y="578708"/>
                    </a:lnTo>
                    <a:cubicBezTo>
                      <a:pt x="20515" y="578708"/>
                      <a:pt x="13413" y="575766"/>
                      <a:pt x="8177" y="570530"/>
                    </a:cubicBezTo>
                    <a:cubicBezTo>
                      <a:pt x="2941" y="565294"/>
                      <a:pt x="0" y="558193"/>
                      <a:pt x="0" y="550788"/>
                    </a:cubicBezTo>
                    <a:lnTo>
                      <a:pt x="0" y="27919"/>
                    </a:lnTo>
                    <a:cubicBezTo>
                      <a:pt x="0" y="20515"/>
                      <a:pt x="2941" y="13413"/>
                      <a:pt x="8177" y="8177"/>
                    </a:cubicBezTo>
                    <a:cubicBezTo>
                      <a:pt x="13413" y="2941"/>
                      <a:pt x="20515" y="0"/>
                      <a:pt x="27919" y="0"/>
                    </a:cubicBezTo>
                    <a:lnTo>
                      <a:pt x="1649512" y="0"/>
                    </a:lnTo>
                    <a:cubicBezTo>
                      <a:pt x="1656916" y="0"/>
                      <a:pt x="1664018" y="2941"/>
                      <a:pt x="1669254" y="8177"/>
                    </a:cubicBezTo>
                    <a:cubicBezTo>
                      <a:pt x="1674489" y="13413"/>
                      <a:pt x="1677431" y="20515"/>
                      <a:pt x="1677431" y="27919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677431" cy="635858"/>
              </a:xfrm>
              <a:prstGeom prst="rect">
                <a:avLst/>
              </a:prstGeom>
            </p:spPr>
            <p:txBody>
              <a:bodyPr lIns="48660" tIns="48660" rIns="48660" bIns="4866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21252" y="4121411"/>
              <a:ext cx="8249099" cy="18002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24760" lvl="1" indent="-212380" algn="l">
                <a:lnSpc>
                  <a:spcPts val="2754"/>
                </a:lnSpc>
                <a:buFont typeface="Arial"/>
                <a:buChar char="•"/>
              </a:pPr>
              <a:r>
                <a:rPr lang="en-US" sz="19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 demand among students &amp; job seekers</a:t>
              </a:r>
            </a:p>
            <a:p>
              <a:pPr marL="424760" lvl="1" indent="-212380" algn="l">
                <a:lnSpc>
                  <a:spcPts val="2754"/>
                </a:lnSpc>
                <a:buFont typeface="Arial"/>
                <a:buChar char="•"/>
              </a:pPr>
              <a:r>
                <a:rPr lang="en-US" sz="196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Growing EdTech + Job market in Bangladesh</a:t>
              </a:r>
            </a:p>
            <a:p>
              <a:pPr marL="424760" lvl="1" indent="-212380" algn="l">
                <a:lnSpc>
                  <a:spcPts val="2754"/>
                </a:lnSpc>
                <a:buFont typeface="Arial"/>
                <a:buChar char="•"/>
              </a:pPr>
              <a:r>
                <a:rPr lang="en-US" sz="196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Can partner with companies &amp; institutes</a:t>
              </a:r>
            </a:p>
            <a:p>
              <a:pPr algn="l">
                <a:lnSpc>
                  <a:spcPts val="2754"/>
                </a:lnSpc>
              </a:pPr>
              <a:endParaRPr lang="en-US" sz="1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946" y="3188143"/>
              <a:ext cx="4828796" cy="8162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08"/>
                </a:lnSpc>
              </a:pPr>
              <a:r>
                <a:rPr lang="en-US" sz="3648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Opportunities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606500" y="0"/>
              <a:ext cx="9274153" cy="2731657"/>
              <a:chOff x="0" y="0"/>
              <a:chExt cx="1783008" cy="52527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783008" cy="525272"/>
              </a:xfrm>
              <a:custGeom>
                <a:avLst/>
                <a:gdLst/>
                <a:ahLst/>
                <a:cxnLst/>
                <a:rect l="l" t="t" r="r" b="b"/>
                <a:pathLst>
                  <a:path w="1783008" h="525272">
                    <a:moveTo>
                      <a:pt x="1783008" y="24487"/>
                    </a:moveTo>
                    <a:lnTo>
                      <a:pt x="1783008" y="500785"/>
                    </a:lnTo>
                    <a:cubicBezTo>
                      <a:pt x="1783008" y="514309"/>
                      <a:pt x="1772045" y="525272"/>
                      <a:pt x="1758521" y="525272"/>
                    </a:cubicBezTo>
                    <a:lnTo>
                      <a:pt x="24487" y="525272"/>
                    </a:lnTo>
                    <a:cubicBezTo>
                      <a:pt x="17993" y="525272"/>
                      <a:pt x="11764" y="522692"/>
                      <a:pt x="7172" y="518100"/>
                    </a:cubicBezTo>
                    <a:cubicBezTo>
                      <a:pt x="2580" y="513508"/>
                      <a:pt x="0" y="507279"/>
                      <a:pt x="0" y="500785"/>
                    </a:cubicBezTo>
                    <a:lnTo>
                      <a:pt x="0" y="24487"/>
                    </a:lnTo>
                    <a:cubicBezTo>
                      <a:pt x="0" y="10963"/>
                      <a:pt x="10963" y="0"/>
                      <a:pt x="24487" y="0"/>
                    </a:cubicBezTo>
                    <a:lnTo>
                      <a:pt x="1758521" y="0"/>
                    </a:lnTo>
                    <a:cubicBezTo>
                      <a:pt x="1765015" y="0"/>
                      <a:pt x="1771244" y="2580"/>
                      <a:pt x="1775836" y="7172"/>
                    </a:cubicBezTo>
                    <a:cubicBezTo>
                      <a:pt x="1780428" y="11764"/>
                      <a:pt x="1783008" y="17993"/>
                      <a:pt x="1783008" y="2448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1783008" cy="582422"/>
              </a:xfrm>
              <a:prstGeom prst="rect">
                <a:avLst/>
              </a:prstGeom>
            </p:spPr>
            <p:txBody>
              <a:bodyPr lIns="52196" tIns="52196" rIns="52196" bIns="52196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0903439" y="1038269"/>
              <a:ext cx="9026181" cy="1488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Depends on accurate user data</a:t>
              </a:r>
            </a:p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Initial development complexity</a:t>
              </a:r>
            </a:p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Needs strong database &amp; AI logic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99884" y="185029"/>
              <a:ext cx="4636342" cy="891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78"/>
                </a:lnSpc>
              </a:pPr>
              <a:r>
                <a:rPr lang="en-US" sz="4055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Weaknesses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0606500" y="3139072"/>
              <a:ext cx="8406659" cy="2731657"/>
              <a:chOff x="0" y="0"/>
              <a:chExt cx="1616227" cy="52527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616227" cy="525272"/>
              </a:xfrm>
              <a:custGeom>
                <a:avLst/>
                <a:gdLst/>
                <a:ahLst/>
                <a:cxnLst/>
                <a:rect l="l" t="t" r="r" b="b"/>
                <a:pathLst>
                  <a:path w="1616227" h="525272">
                    <a:moveTo>
                      <a:pt x="1616227" y="27014"/>
                    </a:moveTo>
                    <a:lnTo>
                      <a:pt x="1616227" y="498258"/>
                    </a:lnTo>
                    <a:cubicBezTo>
                      <a:pt x="1616227" y="513177"/>
                      <a:pt x="1604133" y="525272"/>
                      <a:pt x="1589213" y="525272"/>
                    </a:cubicBezTo>
                    <a:lnTo>
                      <a:pt x="27014" y="525272"/>
                    </a:lnTo>
                    <a:cubicBezTo>
                      <a:pt x="12095" y="525272"/>
                      <a:pt x="0" y="513177"/>
                      <a:pt x="0" y="498258"/>
                    </a:cubicBezTo>
                    <a:lnTo>
                      <a:pt x="0" y="27014"/>
                    </a:lnTo>
                    <a:cubicBezTo>
                      <a:pt x="0" y="12095"/>
                      <a:pt x="12095" y="0"/>
                      <a:pt x="27014" y="0"/>
                    </a:cubicBezTo>
                    <a:lnTo>
                      <a:pt x="1589213" y="0"/>
                    </a:lnTo>
                    <a:cubicBezTo>
                      <a:pt x="1604133" y="0"/>
                      <a:pt x="1616227" y="12095"/>
                      <a:pt x="1616227" y="27014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1616227" cy="582422"/>
              </a:xfrm>
              <a:prstGeom prst="rect">
                <a:avLst/>
              </a:prstGeom>
            </p:spPr>
            <p:txBody>
              <a:bodyPr lIns="52196" tIns="52196" rIns="52196" bIns="52196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718889" y="4149402"/>
              <a:ext cx="9210731" cy="14880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Strong competitors (LinkedIn, Bdjobs, Coursera)</a:t>
              </a:r>
            </a:p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User trust building is challenging</a:t>
              </a:r>
            </a:p>
            <a:p>
              <a:pPr marL="472154" lvl="1" indent="-236077" algn="l">
                <a:lnSpc>
                  <a:spcPts val="3061"/>
                </a:lnSpc>
                <a:buFont typeface="Arial"/>
                <a:buChar char="•"/>
              </a:pPr>
              <a:r>
                <a:rPr lang="en-US" sz="2186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Rapid technology changes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86158" y="3296163"/>
              <a:ext cx="2718747" cy="891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78"/>
                </a:lnSpc>
              </a:pPr>
              <a:r>
                <a:rPr lang="en-US" sz="4055" b="1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Threats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8820" y="7351865"/>
            <a:ext cx="15083368" cy="1588745"/>
            <a:chOff x="0" y="0"/>
            <a:chExt cx="20111157" cy="211832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0111157" cy="2079058"/>
              <a:chOff x="0" y="0"/>
              <a:chExt cx="3972574" cy="41067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972574" cy="410678"/>
              </a:xfrm>
              <a:custGeom>
                <a:avLst/>
                <a:gdLst/>
                <a:ahLst/>
                <a:cxnLst/>
                <a:rect l="l" t="t" r="r" b="b"/>
                <a:pathLst>
                  <a:path w="3972574" h="410678">
                    <a:moveTo>
                      <a:pt x="0" y="0"/>
                    </a:moveTo>
                    <a:lnTo>
                      <a:pt x="3972574" y="0"/>
                    </a:lnTo>
                    <a:lnTo>
                      <a:pt x="3972574" y="410678"/>
                    </a:lnTo>
                    <a:lnTo>
                      <a:pt x="0" y="41067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3972574" cy="4678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5400000">
              <a:off x="-717929" y="739587"/>
              <a:ext cx="2057400" cy="621543"/>
              <a:chOff x="0" y="0"/>
              <a:chExt cx="406400" cy="12277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6400" cy="122774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122774">
                    <a:moveTo>
                      <a:pt x="0" y="0"/>
                    </a:moveTo>
                    <a:lnTo>
                      <a:pt x="406400" y="0"/>
                    </a:lnTo>
                    <a:lnTo>
                      <a:pt x="406400" y="122774"/>
                    </a:lnTo>
                    <a:lnTo>
                      <a:pt x="0" y="12277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406400" cy="1799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 rot="-5400000">
              <a:off x="-723087" y="832906"/>
              <a:ext cx="2079058" cy="413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8"/>
                </a:lnSpc>
              </a:pPr>
              <a:r>
                <a:rPr lang="en-US" sz="2184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Strategy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8884" y="209161"/>
              <a:ext cx="9863484" cy="1632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Focus on unique features like Skill Gap Detection and Job Match % to stand out from competitors.</a:t>
              </a:r>
            </a:p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Ensure simple interface and personalized recommendations for better user experience. </a:t>
              </a:r>
            </a:p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Primarily target students and fresh graduates who need career guidance.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11030" y="155965"/>
              <a:ext cx="9458278" cy="1962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Collaborate with universities, training institutes, and companies for growth.</a:t>
              </a:r>
            </a:p>
            <a:p>
              <a:pPr algn="l">
                <a:lnSpc>
                  <a:spcPts val="1960"/>
                </a:lnSpc>
              </a:pPr>
              <a:endParaRPr lang="en-US" sz="1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Update system regularly based on user feedback and improve accuracy.  </a:t>
              </a:r>
            </a:p>
            <a:p>
              <a:pPr algn="l">
                <a:lnSpc>
                  <a:spcPts val="1960"/>
                </a:lnSpc>
              </a:pPr>
              <a:endParaRPr lang="en-US" sz="1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marL="302261" lvl="1" indent="-151130" algn="l">
                <a:lnSpc>
                  <a:spcPts val="1960"/>
                </a:lnSpc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Expand features and services gradually to reach a larger audience.</a:t>
              </a:r>
            </a:p>
            <a:p>
              <a:pPr algn="l">
                <a:lnSpc>
                  <a:spcPts val="1960"/>
                </a:lnSpc>
              </a:pPr>
              <a:endParaRPr lang="en-US" sz="1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8820" y="507199"/>
            <a:ext cx="4780449" cy="712316"/>
            <a:chOff x="0" y="0"/>
            <a:chExt cx="6373932" cy="949755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6373932" cy="949755"/>
              <a:chOff x="0" y="0"/>
              <a:chExt cx="1141012" cy="17001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141013" cy="170018"/>
              </a:xfrm>
              <a:custGeom>
                <a:avLst/>
                <a:gdLst/>
                <a:ahLst/>
                <a:cxnLst/>
                <a:rect l="l" t="t" r="r" b="b"/>
                <a:pathLst>
                  <a:path w="1141013" h="170018">
                    <a:moveTo>
                      <a:pt x="230188" y="0"/>
                    </a:moveTo>
                    <a:lnTo>
                      <a:pt x="1141013" y="0"/>
                    </a:lnTo>
                    <a:lnTo>
                      <a:pt x="910825" y="170018"/>
                    </a:lnTo>
                    <a:lnTo>
                      <a:pt x="0" y="170018"/>
                    </a:lnTo>
                    <a:lnTo>
                      <a:pt x="230188" y="0"/>
                    </a:lnTo>
                    <a:close/>
                  </a:path>
                </a:pathLst>
              </a:custGeom>
              <a:solidFill>
                <a:srgbClr val="4A989B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54000" y="-57150"/>
                <a:ext cx="633012" cy="2271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47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022423" y="63304"/>
              <a:ext cx="4040405" cy="746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4"/>
                </a:lnSpc>
              </a:pPr>
              <a:r>
                <a:rPr lang="en-US" sz="330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SWOT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836612" cy="4705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6612" cy="470594"/>
            </a:xfrm>
            <a:custGeom>
              <a:avLst/>
              <a:gdLst/>
              <a:ahLst/>
              <a:cxnLst/>
              <a:rect l="l" t="t" r="r" b="b"/>
              <a:pathLst>
                <a:path w="836612" h="470594">
                  <a:moveTo>
                    <a:pt x="0" y="0"/>
                  </a:moveTo>
                  <a:lnTo>
                    <a:pt x="836612" y="0"/>
                  </a:lnTo>
                  <a:lnTo>
                    <a:pt x="836612" y="470594"/>
                  </a:lnTo>
                  <a:lnTo>
                    <a:pt x="0" y="470594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50000">
                  <a:srgbClr val="082D2F">
                    <a:alpha val="100000"/>
                  </a:srgbClr>
                </a:gs>
                <a:gs pos="100000">
                  <a:srgbClr val="28949C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36612" cy="527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4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93545" y="4729067"/>
            <a:ext cx="15300911" cy="124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3"/>
              </a:lnSpc>
            </a:pPr>
            <a:r>
              <a:rPr lang="en-US" sz="3616" b="1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Source form (as provided): </a:t>
            </a:r>
            <a:r>
              <a:rPr lang="en-US" sz="3616" b="1" u="sng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  <a:hlinkClick r:id="rId2" tooltip="https://forms.gle/xBDSUvKwLkwzGewA9"/>
              </a:rPr>
              <a:t>Open survey responses</a:t>
            </a:r>
          </a:p>
          <a:p>
            <a:pPr algn="ctr">
              <a:lnSpc>
                <a:spcPts val="5063"/>
              </a:lnSpc>
            </a:pPr>
            <a:endParaRPr lang="en-US" sz="3616" b="1" u="sng">
              <a:solidFill>
                <a:srgbClr val="FFFFFF"/>
              </a:solidFill>
              <a:latin typeface="Inter Heavy"/>
              <a:ea typeface="Inter Heavy"/>
              <a:cs typeface="Inter Heavy"/>
              <a:sym typeface="Inter Heavy"/>
              <a:hlinkClick r:id="rId2" tooltip="https://forms.gle/xBDSUvKwLkwzGewA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488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Canva Sans</vt:lpstr>
      <vt:lpstr>Canva Sans Bold</vt:lpstr>
      <vt:lpstr>Calibri</vt:lpstr>
      <vt:lpstr>Inter</vt:lpstr>
      <vt:lpstr>Inter Bold</vt:lpstr>
      <vt:lpstr>Arial</vt:lpstr>
      <vt:lpstr>Inter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Green White Gradient Technology Keynote Presentation</dc:title>
  <dc:creator>ACER</dc:creator>
  <cp:lastModifiedBy>Md. Rahatul Islam</cp:lastModifiedBy>
  <cp:revision>2</cp:revision>
  <dcterms:created xsi:type="dcterms:W3CDTF">2006-08-16T00:00:00Z</dcterms:created>
  <dcterms:modified xsi:type="dcterms:W3CDTF">2026-04-04T20:09:43Z</dcterms:modified>
  <dc:identifier>DAHF6aLu-CU</dc:identifier>
</cp:coreProperties>
</file>